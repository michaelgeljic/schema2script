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75908" autoAdjust="0"/>
  </p:normalViewPr>
  <p:slideViewPr>
    <p:cSldViewPr>
      <p:cViewPr>
        <p:scale>
          <a:sx n="75" d="100"/>
          <a:sy n="75" d="100"/>
        </p:scale>
        <p:origin x="267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925A17EF-115B-4BB9-BF42-426DFD9E898A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7C4E7652-46AF-4259-BAE2-54978EA077C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michael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4E7652-46AF-4259-BAE2-54978EA077CD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felicio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4E7652-46AF-4259-BAE2-54978EA077C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zarko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4E7652-46AF-4259-BAE2-54978EA077C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91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boban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4E7652-46AF-4259-BAE2-54978EA077C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632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vulnerability allows the usage of external entities in XML.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 Entity Processing allows for XML parsing with the involvement of external entities. However, when this functionality is enabled without proper precautions, it can lead to a vulnerability known as XML External Entity (XXE) attack.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significant danger of XXE vulnerabilities is the potential for sensitive data exposure.</a:t>
            </a:r>
          </a:p>
          <a:p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 consequence of XXE vulnerabilities is the potential for denial-of-service attacks.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 err="1"/>
              <a:t>helena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4E7652-46AF-4259-BAE2-54978EA077C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72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our parse() method in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XMLParser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DocumentBuilderFactory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factory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DocumentBuilderFactory.newInstance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dirty="0"/>
              <a:t>Creates a factory object that produces XML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DocumentBuilder</a:t>
            </a:r>
            <a:r>
              <a:rPr lang="en-US" dirty="0"/>
              <a:t> parsers (a parser configuration entry point).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DocumentBuilder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builder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factory.newDocumentBuilder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  <a:br>
              <a:rPr lang="en-US" dirty="0"/>
            </a:br>
            <a:r>
              <a:rPr lang="en-US" dirty="0"/>
              <a:t>Builds the actual XML parser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DocumentBuilder</a:t>
            </a:r>
            <a:r>
              <a:rPr lang="en-US" dirty="0"/>
              <a:t>) using the factory’s configuration.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 doc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builder.parse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schemaFile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  <a:br>
              <a:rPr lang="en-US" dirty="0"/>
            </a:br>
            <a:r>
              <a:rPr lang="en-US" dirty="0"/>
              <a:t>Parses the XML input (here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schemaFile</a:t>
            </a:r>
            <a:r>
              <a:rPr lang="en-US" dirty="0"/>
              <a:t>) into a DOM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</a:t>
            </a:r>
            <a:r>
              <a:rPr lang="en-US" dirty="0"/>
              <a:t> object. This can throw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SAXException</a:t>
            </a:r>
            <a:r>
              <a:rPr lang="en-US" dirty="0"/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IOException</a:t>
            </a:r>
            <a:r>
              <a:rPr lang="en-US" dirty="0"/>
              <a:t> if parsing fails.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doc.getDocumentElement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().normalize();</a:t>
            </a:r>
            <a:br>
              <a:rPr lang="en-US" dirty="0"/>
            </a:br>
            <a:r>
              <a:rPr lang="en-US" dirty="0"/>
              <a:t>Normalizes the DOM tree: makes reading or traversing through the DOM easier and less error prone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4E7652-46AF-4259-BAE2-54978EA077C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224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It </a:t>
            </a:r>
            <a:r>
              <a:rPr lang="en-US" b="1" dirty="0"/>
              <a:t>disables DOCTYPE declarations</a:t>
            </a:r>
            <a:r>
              <a:rPr lang="en-US" dirty="0"/>
              <a:t> in incoming XML.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  <a:p>
            <a:r>
              <a:rPr lang="en-US" dirty="0"/>
              <a:t>Since XXE attacks require 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&lt;!DOCTYPE …&gt;</a:t>
            </a:r>
            <a:r>
              <a:rPr lang="en-US" dirty="0"/>
              <a:t> (to define external or parameter entities), disabling DOCTYPE </a:t>
            </a:r>
            <a:r>
              <a:rPr lang="en-US" b="1" dirty="0"/>
              <a:t>prevents the parser from processing external entities</a:t>
            </a:r>
            <a:r>
              <a:rPr lang="en-US" dirty="0"/>
              <a:t> — blocking the common XXE vectors (local file reads, SSRF, malicious DTDs/DoS).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factory.setFeature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("http://apache.org/xml/features/disallow-doctype-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 true);</a:t>
            </a:r>
            <a:br>
              <a:rPr lang="en-US" dirty="0"/>
            </a:br>
            <a:r>
              <a:rPr lang="en-US" dirty="0"/>
              <a:t>Tells the parser to </a:t>
            </a:r>
            <a:r>
              <a:rPr lang="en-US" b="1" dirty="0"/>
              <a:t>disallow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&lt;!DOCTYPE&gt;</a:t>
            </a:r>
            <a:r>
              <a:rPr lang="en-US" b="1" dirty="0"/>
              <a:t> declarations</a:t>
            </a:r>
            <a:r>
              <a:rPr lang="en-US" dirty="0"/>
              <a:t> (prevents the parser from accepting DTDs / external-entity declarations — main XXE vector). This must be set before creating the builder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4E7652-46AF-4259-BAE2-54978EA077C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98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770D99E-2869-438B-B483-1F6CCD5437EE}"/>
              </a:ext>
            </a:extLst>
          </p:cNvPr>
          <p:cNvGrpSpPr/>
          <p:nvPr userDrawn="1"/>
        </p:nvGrpSpPr>
        <p:grpSpPr>
          <a:xfrm>
            <a:off x="-1" y="-10825"/>
            <a:ext cx="9144002" cy="6515395"/>
            <a:chOff x="-1" y="-10825"/>
            <a:chExt cx="9144002" cy="6515395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F66236F9-EA1F-4D2A-84DE-EC04F9972C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7200" y="-10825"/>
              <a:ext cx="3429000" cy="3181546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32A12C4E-53AE-4900-9783-F619054408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95401" y="-10825"/>
              <a:ext cx="7848600" cy="3522243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A14E049B-6FD4-487E-927B-506983629A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31825" y="2232482"/>
              <a:ext cx="1282976" cy="1108588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F27E3F5-0D4D-492C-8A3E-50BC30CEFD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1" y="2962082"/>
              <a:ext cx="2757625" cy="3542488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6D4FF91-8818-4598-AC9F-B8C2FA867C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" y="2313169"/>
              <a:ext cx="2259131" cy="2895506"/>
            </a:xfrm>
            <a:prstGeom prst="rect">
              <a:avLst/>
            </a:prstGeom>
          </p:spPr>
        </p:pic>
      </p:grp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276600" y="1213332"/>
            <a:ext cx="5326856" cy="1425577"/>
          </a:xfrm>
        </p:spPr>
        <p:txBody>
          <a:bodyPr anchor="b"/>
          <a:lstStyle>
            <a:lvl1pPr algn="r">
              <a:defRPr sz="45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724400" y="3849666"/>
            <a:ext cx="3879056" cy="1234575"/>
          </a:xfrm>
          <a:noFill/>
        </p:spPr>
        <p:txBody>
          <a:bodyPr/>
          <a:lstStyle>
            <a:lvl1pPr marL="0" marR="36576" indent="0" algn="l">
              <a:spcBef>
                <a:spcPts val="0"/>
              </a:spcBef>
              <a:buNone/>
              <a:defRPr>
                <a:ln>
                  <a:noFill/>
                </a:ln>
                <a:solidFill>
                  <a:schemeClr val="bg2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2812256" y="6322007"/>
            <a:ext cx="5791200" cy="365125"/>
          </a:xfrm>
          <a:prstGeom prst="rect">
            <a:avLst/>
          </a:prstGeom>
        </p:spPr>
        <p:txBody>
          <a:bodyPr tIns="0" bIns="0" anchor="t"/>
          <a:lstStyle>
            <a:lvl1pPr algn="r">
              <a:defRPr sz="1000"/>
            </a:lvl1pPr>
          </a:lstStyle>
          <a:p>
            <a:pPr algn="r"/>
            <a:fld id="{A2E209FB-7A34-414B-812A-BCC5C4256F49}" type="datetime1">
              <a:rPr lang="en-US" smtClean="0"/>
              <a:pPr algn="r"/>
              <a:t>10/29/2025</a:t>
            </a:fld>
            <a:endParaRPr lang="en-US" sz="10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12256" y="5960055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pPr algn="r"/>
            <a:endParaRPr lang="en-US" sz="11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4876800" cy="7993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15000" y="173195"/>
            <a:ext cx="2468880" cy="3008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www.website.com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243F-3000-4347-94A4-FBDEAD3122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ABB0C64-AD16-4270-8323-3B986F4CAD10}"/>
              </a:ext>
            </a:extLst>
          </p:cNvPr>
          <p:cNvGrpSpPr/>
          <p:nvPr userDrawn="1"/>
        </p:nvGrpSpPr>
        <p:grpSpPr>
          <a:xfrm>
            <a:off x="5105399" y="3142"/>
            <a:ext cx="4038601" cy="1101851"/>
            <a:chOff x="5334000" y="-37306"/>
            <a:chExt cx="3281716" cy="895350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323EE1CF-2D6B-4E08-B98D-D9F9B91968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48301" y="-37306"/>
              <a:ext cx="3167415" cy="6096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2AA44434-8959-4391-901A-0B056114A2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334000" y="-37306"/>
              <a:ext cx="819150" cy="89535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133CFB-98CB-4408-8818-24F931AC1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EE7E31-13F0-404F-BFFF-EE236EB5D4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www.website.com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C6F67-BAE4-413D-8066-1E361D589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598980-D22C-4904-9F8F-3DB09B2ECD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F566D8F-E696-41DE-BA1C-A8D0C7F03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5655"/>
            <a:ext cx="7726680" cy="571500"/>
          </a:xfrm>
        </p:spPr>
        <p:txBody>
          <a:bodyPr>
            <a:normAutofit/>
          </a:bodyPr>
          <a:lstStyle>
            <a:lvl1pPr marL="64008" indent="0">
              <a:buFont typeface="Arial" panose="020B0604020202020204" pitchFamily="34" charset="0"/>
              <a:buNone/>
              <a:defRPr sz="2000"/>
            </a:lvl1pPr>
            <a:lvl2pPr marL="537210" indent="0">
              <a:buNone/>
              <a:defRPr/>
            </a:lvl2pPr>
            <a:lvl3pPr marL="877824" indent="0">
              <a:buNone/>
              <a:defRPr/>
            </a:lvl3pPr>
            <a:lvl4pPr marL="1161288" indent="0">
              <a:buNone/>
              <a:defRPr/>
            </a:lvl4pPr>
            <a:lvl5pPr marL="138988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878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791200" y="173195"/>
            <a:ext cx="2355056" cy="301752"/>
          </a:xfrm>
        </p:spPr>
        <p:txBody>
          <a:bodyPr/>
          <a:lstStyle/>
          <a:p>
            <a:r>
              <a:rPr lang="en-US" dirty="0"/>
              <a:t>www.website.com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32CA5EA-865E-4EF0-89BB-61FD6EFE2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80070" y="173195"/>
            <a:ext cx="502920" cy="301752"/>
          </a:xfrm>
        </p:spPr>
        <p:txBody>
          <a:bodyPr/>
          <a:lstStyle/>
          <a:p>
            <a:fld id="{FEA1243F-3000-4347-94A4-FBDEAD3122C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295400"/>
            <a:ext cx="914400" cy="5015864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5856" y="1295400"/>
            <a:ext cx="2438400" cy="5015864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1250" y="1295400"/>
            <a:ext cx="5276088" cy="501396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67400" y="173195"/>
            <a:ext cx="2324196" cy="301752"/>
          </a:xfrm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www.website.com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D5BE3E6-AFB3-460C-834B-D73EE2A7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1596" y="173195"/>
            <a:ext cx="502920" cy="301752"/>
          </a:xfrm>
        </p:spPr>
        <p:txBody>
          <a:bodyPr/>
          <a:lstStyle>
            <a:lvl1pPr>
              <a:defRPr sz="1200"/>
            </a:lvl1pPr>
          </a:lstStyle>
          <a:p>
            <a:fld id="{FEA1243F-3000-4347-94A4-FBDEAD3122C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12" Type="http://schemas.openxmlformats.org/officeDocument/2006/relationships/image" Target="../media/image7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5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Relationship Id="rId14" Type="http://schemas.openxmlformats.org/officeDocument/2006/relationships/image" Target="../media/image9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423E8A4-D2B7-46D2-92C3-AE6BC0B9BD06}"/>
              </a:ext>
            </a:extLst>
          </p:cNvPr>
          <p:cNvGrpSpPr/>
          <p:nvPr userDrawn="1"/>
        </p:nvGrpSpPr>
        <p:grpSpPr>
          <a:xfrm>
            <a:off x="5105399" y="3142"/>
            <a:ext cx="4038601" cy="1101851"/>
            <a:chOff x="5334000" y="-37306"/>
            <a:chExt cx="3281716" cy="895350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9309AE25-B267-4B83-A0CB-35016E70EE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448301" y="-37306"/>
              <a:ext cx="3167415" cy="6096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61BEEC28-F63A-4526-A6C3-33CFC7679C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334000" y="-37306"/>
              <a:ext cx="819150" cy="895350"/>
            </a:xfrm>
            <a:prstGeom prst="rect">
              <a:avLst/>
            </a:prstGeom>
          </p:spPr>
        </p:pic>
      </p:grp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66725" y="381198"/>
            <a:ext cx="4638674" cy="675926"/>
          </a:xfrm>
          <a:prstGeom prst="rect">
            <a:avLst/>
          </a:prstGeom>
        </p:spPr>
        <p:txBody>
          <a:bodyPr vert="horz" lIns="0" rIns="0" anchor="ctr">
            <a:noAutofit/>
          </a:bodyPr>
          <a:lstStyle/>
          <a:p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566839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867400" y="174116"/>
            <a:ext cx="2212182" cy="300831"/>
          </a:xfrm>
          <a:prstGeom prst="rect">
            <a:avLst/>
          </a:prstGeom>
        </p:spPr>
        <p:txBody>
          <a:bodyPr vert="horz" anchor="b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www.website.com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83880" y="173195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>
              <a:defRPr sz="1200" b="1">
                <a:solidFill>
                  <a:schemeClr val="bg2"/>
                </a:solidFill>
              </a:defRPr>
            </a:lvl1pPr>
          </a:lstStyle>
          <a:p>
            <a:fld id="{49598980-D22C-4904-9F8F-3DB09B2ECD8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1E45D2D-0469-4652-A090-C4D13F3C150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5307178"/>
            <a:ext cx="1219200" cy="155082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16C04FF8-AE2F-4C75-8657-A2201B95197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16459" y="4545317"/>
            <a:ext cx="1248460" cy="1570328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52" r:id="rId4"/>
    <p:sldLayoutId id="2147483656" r:id="rId5"/>
  </p:sldLayoutIdLst>
  <p:txStyles>
    <p:titleStyle>
      <a:lvl1pPr marL="182880" algn="l" rtl="0" eaLnBrk="1" latinLnBrk="0" hangingPunct="1">
        <a:spcBef>
          <a:spcPct val="0"/>
        </a:spcBef>
        <a:buNone/>
        <a:defRPr sz="4000" b="1" kern="1200">
          <a:ln w="6350">
            <a:noFill/>
          </a:ln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SzPct val="80000"/>
        <a:buFont typeface="Arial" panose="020B0604020202020204" pitchFamily="34" charset="0"/>
        <a:buChar char="•"/>
        <a:defRPr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SzPct val="95000"/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2267744" y="1295400"/>
            <a:ext cx="6335712" cy="1425577"/>
          </a:xfrm>
        </p:spPr>
        <p:txBody>
          <a:bodyPr/>
          <a:lstStyle/>
          <a:p>
            <a:r>
              <a:rPr lang="en-US" dirty="0"/>
              <a:t>Schema2Script</a:t>
            </a:r>
            <a:br>
              <a:rPr lang="en-US" dirty="0"/>
            </a:br>
            <a:r>
              <a:rPr lang="hr-HR" b="0" dirty="0"/>
              <a:t>Code Analysis Report</a:t>
            </a:r>
            <a:endParaRPr lang="en-US" b="0" dirty="0"/>
          </a:p>
        </p:txBody>
      </p:sp>
      <p:sp>
        <p:nvSpPr>
          <p:cNvPr id="3" name="Rectangle 2"/>
          <p:cNvSpPr>
            <a:spLocks noGrp="1"/>
          </p:cNvSpPr>
          <p:nvPr>
            <p:ph type="subTitle" idx="1"/>
          </p:nvPr>
        </p:nvSpPr>
        <p:spPr>
          <a:xfrm>
            <a:off x="1979712" y="3849666"/>
            <a:ext cx="6623744" cy="1234575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en-US" dirty="0"/>
              <a:t>GROUP G7</a:t>
            </a:r>
          </a:p>
          <a:p>
            <a:pPr algn="r"/>
            <a:r>
              <a:rPr lang="en-US" dirty="0"/>
              <a:t>Michael Geljic, Luka Boban, Helena Markulin, Zarko Zizic, Felicio Orlandini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8A365-AE09-2C40-9C44-12BCB6C8D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/>
              <a:t>Tools Being Used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Static Code Analysis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Overview of the Report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Presenting a</a:t>
            </a:r>
            <a:r>
              <a:rPr lang="hr-HR" dirty="0"/>
              <a:t>n</a:t>
            </a:r>
            <a:r>
              <a:rPr lang="en-US" dirty="0"/>
              <a:t> </a:t>
            </a:r>
            <a:r>
              <a:rPr lang="hr-HR" dirty="0"/>
              <a:t>Issues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55D0777-B08C-4808-A096-0F7AA6935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Schema2Script Review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FCD5F1-B09D-4B0A-BB07-423B979A6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243F-3000-4347-94A4-FBDEAD3122C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5DBDF-0D5C-49EA-8DEF-EB819F7BF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Tools Being Used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76B2F-9F12-4CDF-929C-FF8825547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SonarQube server</a:t>
            </a:r>
          </a:p>
          <a:p>
            <a:r>
              <a:rPr lang="en-US" dirty="0"/>
              <a:t>Gitlab CI/CD</a:t>
            </a:r>
          </a:p>
          <a:p>
            <a:r>
              <a:rPr lang="en-US" dirty="0"/>
              <a:t>Maven</a:t>
            </a:r>
          </a:p>
          <a:p>
            <a:r>
              <a:rPr lang="en-US" dirty="0" err="1"/>
              <a:t>Zrok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905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DCECA-C63F-4662-BDF0-7774B7380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395"/>
            <a:ext cx="6347048" cy="799306"/>
          </a:xfrm>
        </p:spPr>
        <p:txBody>
          <a:bodyPr/>
          <a:lstStyle/>
          <a:p>
            <a:r>
              <a:rPr lang="en-US" dirty="0"/>
              <a:t>Static Code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7CCBC-5DA1-4AF8-9DA3-AC067778C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000" dirty="0"/>
              <a:t>SonarQube was used to analyze our code</a:t>
            </a:r>
          </a:p>
          <a:p>
            <a:pPr>
              <a:buFontTx/>
              <a:buChar char="-"/>
            </a:pPr>
            <a:r>
              <a:rPr lang="en-US" sz="2000" dirty="0"/>
              <a:t>For Milestone 2, 15 code smells were detected.</a:t>
            </a:r>
          </a:p>
          <a:p>
            <a:pPr>
              <a:buFontTx/>
              <a:buChar char="-"/>
            </a:pPr>
            <a:r>
              <a:rPr lang="en-US" sz="2000" dirty="0"/>
              <a:t>Most of them were related to maintenance, ex. Removing commented out code and using string formatting instead of concatenation</a:t>
            </a:r>
          </a:p>
          <a:p>
            <a:pPr>
              <a:buFontTx/>
              <a:buChar char="-"/>
            </a:pPr>
            <a:r>
              <a:rPr lang="en-US" sz="2000" dirty="0"/>
              <a:t>One security vulnerability related to </a:t>
            </a:r>
            <a:r>
              <a:rPr lang="en-US" sz="2000" dirty="0" err="1"/>
              <a:t>XMLParser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1920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BE24-56A5-52B4-AF68-5DD0AB5C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java:S2755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3F0CD-E883-A424-293D-A962A2910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4008" indent="0">
              <a:buNone/>
            </a:pPr>
            <a:r>
              <a:rPr lang="en-US" sz="2400" b="1" dirty="0"/>
              <a:t>XML parsers should not be vulnerable to XXE attacks</a:t>
            </a:r>
          </a:p>
          <a:p>
            <a:r>
              <a:rPr lang="en-US" sz="2000" dirty="0">
                <a:solidFill>
                  <a:schemeClr val="bg1"/>
                </a:solidFill>
              </a:rPr>
              <a:t>This vulnerability allows the usage of external entities in XML.</a:t>
            </a:r>
          </a:p>
          <a:p>
            <a:r>
              <a:rPr lang="en-US" sz="2000" dirty="0">
                <a:solidFill>
                  <a:schemeClr val="bg1"/>
                </a:solidFill>
              </a:rPr>
              <a:t>One significant danger of XXE vulnerabilities is the potential for sensitive data exposure and potential DOS attacks.</a:t>
            </a:r>
            <a:br>
              <a:rPr lang="en-US" sz="2400" b="1" dirty="0"/>
            </a:br>
            <a:br>
              <a:rPr lang="en-US" sz="2400" b="1" dirty="0"/>
            </a:b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31164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19D6E-9572-248D-7525-77E64093E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672DAC-CD92-201E-C544-566D47DF61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820"/>
          <a:stretch>
            <a:fillRect/>
          </a:stretch>
        </p:blipFill>
        <p:spPr>
          <a:xfrm>
            <a:off x="408036" y="2428106"/>
            <a:ext cx="8327928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053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9CA3F-2393-426D-EFA1-702D8C657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7B58DE-3EF5-A7D3-D1F4-DB00C63D8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7" y="2276872"/>
            <a:ext cx="9020605" cy="18041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410A08-56C2-2F14-28A0-49226A25A47F}"/>
              </a:ext>
            </a:extLst>
          </p:cNvPr>
          <p:cNvSpPr txBox="1"/>
          <p:nvPr/>
        </p:nvSpPr>
        <p:spPr>
          <a:xfrm>
            <a:off x="63781" y="4293096"/>
            <a:ext cx="421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Disallows &lt;!DOCTYPE…&gt; declarations</a:t>
            </a:r>
          </a:p>
        </p:txBody>
      </p:sp>
    </p:spTree>
    <p:extLst>
      <p:ext uri="{BB962C8B-B14F-4D97-AF65-F5344CB8AC3E}">
        <p14:creationId xmlns:p14="http://schemas.microsoft.com/office/powerpoint/2010/main" val="2613458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0D0EF-40B4-6C04-5698-71DAC2C81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F2C99-F01C-DDD1-9031-C09291CD8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1549401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Custom 48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C94C25"/>
      </a:accent1>
      <a:accent2>
        <a:srgbClr val="EA8640"/>
      </a:accent2>
      <a:accent3>
        <a:srgbClr val="99D9E7"/>
      </a:accent3>
      <a:accent4>
        <a:srgbClr val="FAB17B"/>
      </a:accent4>
      <a:accent5>
        <a:srgbClr val="21B8B3"/>
      </a:accent5>
      <a:accent6>
        <a:srgbClr val="F3786E"/>
      </a:accent6>
      <a:hlink>
        <a:srgbClr val="646567"/>
      </a:hlink>
      <a:folHlink>
        <a:srgbClr val="646567"/>
      </a:folHlink>
    </a:clrScheme>
    <a:fontScheme name="Custom 27">
      <a:majorFont>
        <a:latin typeface="Segoe UI"/>
        <a:ea typeface=""/>
        <a:cs typeface=""/>
      </a:majorFont>
      <a:minorFont>
        <a:latin typeface="Arial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110000" t="250000" r="110000" b="40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110000" t="250000" r="110000" b="40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0000"/>
                <a:satMod val="130000"/>
              </a:schemeClr>
              <a:schemeClr val="phClr">
                <a:tint val="70000"/>
                <a:satMod val="130000"/>
              </a:schemeClr>
            </a:duotone>
          </a:blip>
          <a:tile tx="0" ty="0" sx="90000" sy="90000" flip="none" algn="t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0167107 - Reporting progress or status presentation - NEW.potx" id="{24ADC811-FCB2-4A9B-852A-BB14EA0B4C87}" vid="{F865C24B-81F8-4D59-BA13-A775229E76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990</TotalTime>
  <Words>453</Words>
  <Application>Microsoft Office PowerPoint</Application>
  <PresentationFormat>On-screen Show (4:3)</PresentationFormat>
  <Paragraphs>63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Segoe UI</vt:lpstr>
      <vt:lpstr>Wingdings</vt:lpstr>
      <vt:lpstr>Wingdings 2</vt:lpstr>
      <vt:lpstr>Verve</vt:lpstr>
      <vt:lpstr>Schema2Script Code Analysis Report</vt:lpstr>
      <vt:lpstr>OUTLINE</vt:lpstr>
      <vt:lpstr>Tools Being Used</vt:lpstr>
      <vt:lpstr>Static Code Analysis</vt:lpstr>
      <vt:lpstr>java:S2755</vt:lpstr>
      <vt:lpstr>Before</vt:lpstr>
      <vt:lpstr>After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Reporting Progress or Status</dc:title>
  <dc:creator>Microsoft Office User</dc:creator>
  <cp:lastModifiedBy>Michael Geljic (RIT Student)</cp:lastModifiedBy>
  <cp:revision>22</cp:revision>
  <dcterms:created xsi:type="dcterms:W3CDTF">2018-12-05T08:19:50Z</dcterms:created>
  <dcterms:modified xsi:type="dcterms:W3CDTF">2025-10-29T08:54:53Z</dcterms:modified>
</cp:coreProperties>
</file>